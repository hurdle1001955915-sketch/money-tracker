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09728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460"/>
              </a:lnSpc>
              <a:spcAft>
                <a:spcPts val="0"/>
              </a:spcAft>
              <a:defRPr sz="4200" b="1">
                <a:solidFill>
                  <a:srgbClr val="F0F0F0"/>
                </a:solidFill>
                <a:latin typeface="Hiragino Sans"/>
              </a:defRPr>
            </a:pPr>
            <a:r>
              <a:t>自分のお金の流れ、</a:t>
            </a:r>
            <a:br/>
            <a:r>
              <a:t>ちゃんと見えてますか？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743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00D2FF"/>
                </a:solidFill>
                <a:latin typeface="Hiragino Sans"/>
              </a:defRPr>
            </a:pPr>
            <a:r>
              <a:t>収支管理  --  AIと作った、完全ローカル家計簿アプリ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840480"/>
            <a:ext cx="201168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3931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6C63FF"/>
                </a:solidFill>
                <a:latin typeface="Menlo"/>
              </a:defRPr>
            </a:pPr>
            <a:r>
              <a:t>24,000+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A0A0B0"/>
                </a:solidFill>
                <a:latin typeface="Hiragino Sans"/>
              </a:defRPr>
            </a:pPr>
            <a:r>
              <a:t>行のSwiftコード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3840480"/>
            <a:ext cx="201168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3931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6C63FF"/>
                </a:solidFill>
                <a:latin typeface="Menlo"/>
              </a:defRPr>
            </a:pPr>
            <a:r>
              <a:t>62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A0A0B0"/>
                </a:solidFill>
                <a:latin typeface="Hiragino Sans"/>
              </a:defRPr>
            </a:pPr>
            <a:r>
              <a:t>ファイル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840480"/>
            <a:ext cx="201168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931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6C63FF"/>
                </a:solidFill>
                <a:latin typeface="Menlo"/>
              </a:defRPr>
            </a:pPr>
            <a:r>
              <a:t>2-3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A0A0B0"/>
                </a:solidFill>
                <a:latin typeface="Hiragino Sans"/>
              </a:defRPr>
            </a:pPr>
            <a:r>
              <a:t>週間で開発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3840480"/>
            <a:ext cx="201168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3931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6C63FF"/>
                </a:solidFill>
                <a:latin typeface="Menlo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4348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A0A0B0"/>
                </a:solidFill>
                <a:latin typeface="Hiragino Sans"/>
              </a:defRPr>
            </a:pPr>
            <a:r>
              <a:t>人で開発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669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606070"/>
                </a:solidFill>
                <a:latin typeface="Hiragino Sans"/>
              </a:defRPr>
            </a:pPr>
            <a:r>
              <a:t>2026.03.04  |  井原 翔太郎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6C63FF"/>
                </a:solidFill>
                <a:latin typeface="Menlo"/>
              </a:defRPr>
            </a:pPr>
            <a:r>
              <a:t>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F0F0F0"/>
                </a:solidFill>
                <a:latin typeface="Hiragino Sans"/>
              </a:defRPr>
            </a:pPr>
            <a:r>
              <a:t>なぜ「自分で」作ったのか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4630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F0F0F0"/>
                </a:solidFill>
                <a:latin typeface="Hiragino Sans"/>
              </a:defRPr>
            </a:pPr>
            <a:r>
              <a:t>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691640"/>
            <a:ext cx="8961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1">
                <a:solidFill>
                  <a:srgbClr val="F0F0F0"/>
                </a:solidFill>
                <a:latin typeface="Hiragino Sans"/>
              </a:defRPr>
            </a:pPr>
            <a:r>
              <a:t>プライバシー最優先 -- データは100%デバイス内に保存</a:t>
            </a:r>
          </a:p>
          <a:p>
            <a:pPr algn="l">
              <a:spcAft>
                <a:spcPts val="200"/>
              </a:spcAft>
              <a:defRPr sz="1300" b="0">
                <a:solidFill>
                  <a:srgbClr val="A0A0B0"/>
                </a:solidFill>
                <a:latin typeface="Hiragino Sans"/>
              </a:defRPr>
            </a:pPr>
            <a:r>
              <a:t>他人が作ったアプリに自分の金融データを預けたくない。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00E676"/>
                </a:solidFill>
                <a:latin typeface="Hiragino Sans"/>
              </a:defRPr>
            </a:pPr>
            <a:r>
              <a:t>iCloud同期は明示的にOFF / アナリティクス・テレメトリなし / バックアップもローカルZIPのみ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120640" cy="12801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474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400" b="0">
                <a:solidFill>
                  <a:srgbClr val="F0F0F0"/>
                </a:solidFill>
                <a:latin typeface="Hiragino Sans"/>
              </a:defRPr>
            </a:pPr>
            <a:r>
              <a:t>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4747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0F0F0"/>
                </a:solidFill>
                <a:latin typeface="Hiragino Sans"/>
              </a:defRPr>
            </a:pPr>
            <a:r>
              <a:t>既存アプリへの不満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A0A0B0"/>
                </a:solidFill>
                <a:latin typeface="Hiragino Sans"/>
              </a:defRPr>
            </a:pPr>
            <a:r>
              <a:t>機能が多すぎ or 少なすぎ。広告も邪魔。</a:t>
            </a:r>
            <a:br/>
            <a:r>
              <a:t>自分のCSV（PayPay・りそな等）に非対応。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383280"/>
            <a:ext cx="5120640" cy="12801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474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Aft>
                <a:spcPts val="0"/>
              </a:spcAft>
              <a:defRPr sz="2400" b="0">
                <a:solidFill>
                  <a:srgbClr val="F0F0F0"/>
                </a:solidFill>
                <a:latin typeface="Hiragino Sans"/>
              </a:defRPr>
            </a:pPr>
            <a:r>
              <a:t>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34747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F0F0F0"/>
                </a:solidFill>
                <a:latin typeface="Hiragino Sans"/>
              </a:defRPr>
            </a:pPr>
            <a:r>
              <a:t>AI開発への好奇心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A0A0B0"/>
                </a:solidFill>
                <a:latin typeface="Hiragino Sans"/>
              </a:defRPr>
            </a:pPr>
            <a:r>
              <a:t>「Claude Codeで本格アプリ、</a:t>
            </a:r>
            <a:br/>
            <a:r>
              <a:t> 本当に作れるの？」を検証したかった。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698480" cy="64008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074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F0F0F0"/>
                </a:solidFill>
                <a:latin typeface="Hiragino Sans"/>
              </a:defRPr>
            </a:pPr>
            <a:r>
              <a:t>「自分の金融データは、自分の端末だけで管理する」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6C63FF"/>
                </a:solidFill>
                <a:latin typeface="Menlo"/>
              </a:defRPr>
            </a:pPr>
            <a:r>
              <a:t>WHY THIS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F0F0F0"/>
                </a:solidFill>
                <a:latin typeface="Hiragino Sans"/>
              </a:defRPr>
            </a:pPr>
            <a:r>
              <a:t>3つの強み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8404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00E676"/>
                </a:solidFill>
                <a:latin typeface="Menlo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F0F0F0"/>
                </a:solidFill>
                <a:latin typeface="Hiragino Sans"/>
              </a:defRPr>
            </a:pPr>
            <a:r>
              <a:t>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F0F0F0"/>
                </a:solidFill>
                <a:latin typeface="Hiragino Sans"/>
              </a:defRPr>
            </a:pPr>
            <a:r>
              <a:t>完全ローカル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00E676"/>
                </a:solidFill>
                <a:latin typeface="Hiragino Sans"/>
              </a:defRPr>
            </a:pPr>
            <a:r>
              <a:t>あなたのデータは、</a:t>
            </a:r>
            <a:br/>
            <a:r>
              <a:t>あなたのデバイスだけに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SwiftData でデバイス内に永続保存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iCloud同期は明示的にOFF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アナリティクス・テレメトリなし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APIキーはKeychain保存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38404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6C63FF"/>
                </a:solidFill>
                <a:latin typeface="Menlo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F0F0F0"/>
                </a:solidFill>
                <a:latin typeface="Hiragino Sans"/>
              </a:defRPr>
            </a:pPr>
            <a: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688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F0F0F0"/>
                </a:solidFill>
                <a:latin typeface="Hiragino Sans"/>
              </a:defRPr>
            </a:pPr>
            <a:r>
              <a:t>AIが自動仕分け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6C63FF"/>
                </a:solidFill>
                <a:latin typeface="Hiragino Sans"/>
              </a:defRPr>
            </a:pPr>
            <a:r>
              <a:t>CSVインポート +</a:t>
            </a:r>
            <a:br/>
            <a:r>
              <a:t>GPT-4o-mini自動分類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6 CSVフォーマット自動判定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信頼度スコア80%以上で自動確定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分類理由を日本語で表示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ルール学習 + 手動修正対応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384048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830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00D2FF"/>
                </a:solidFill>
                <a:latin typeface="Menlo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0">
                <a:solidFill>
                  <a:srgbClr val="F0F0F0"/>
                </a:solidFill>
                <a:latin typeface="Hiragino Sans"/>
              </a:defRPr>
            </a:pPr>
            <a: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2834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F0F0F0"/>
                </a:solidFill>
                <a:latin typeface="Hiragino Sans"/>
              </a:defRPr>
            </a:pPr>
            <a:r>
              <a:t>7つのグラフで</a:t>
            </a:r>
            <a:br/>
            <a:r>
              <a:t>見える化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00D2FF"/>
                </a:solidFill>
                <a:latin typeface="Hiragino Sans"/>
              </a:defRPr>
            </a:pPr>
            <a:r>
              <a:t>円グラフから</a:t>
            </a:r>
            <a:br/>
            <a:r>
              <a:t>予算進捗まで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支出/収入カテゴリ円グラフ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年間推移棒グラフ・折れ線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予算達成プログレス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資産ダッシュボード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6C63FF"/>
                </a:solidFill>
                <a:latin typeface="Menlo"/>
              </a:defRPr>
            </a:pPr>
            <a: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F0F0F0"/>
                </a:solidFill>
                <a:latin typeface="Hiragino Sans"/>
              </a:defRPr>
            </a:pPr>
            <a:r>
              <a:t>主な機能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19" y="1554480"/>
            <a:ext cx="2011680" cy="640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19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0F0F0"/>
                </a:solidFill>
                <a:latin typeface="Hiragino Sans"/>
              </a:defRPr>
            </a:pPr>
            <a:r>
              <a:t>📝  入力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88920" y="1554480"/>
            <a:ext cx="2011680" cy="640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8892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0F0F0"/>
                </a:solidFill>
                <a:latin typeface="Hiragino Sans"/>
              </a:defRPr>
            </a:pPr>
            <a:r>
              <a:t>📅  カレンダー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74920" y="1554480"/>
            <a:ext cx="2011680" cy="640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7492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0F0F0"/>
                </a:solidFill>
                <a:latin typeface="Hiragino Sans"/>
              </a:defRPr>
            </a:pPr>
            <a:r>
              <a:t>📊  グラフ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19" y="1554480"/>
            <a:ext cx="2011680" cy="640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60919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0F0F0"/>
                </a:solidFill>
                <a:latin typeface="Hiragino Sans"/>
              </a:defRPr>
            </a:pPr>
            <a:r>
              <a:t>💰  資産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19" y="1554480"/>
            <a:ext cx="2011680" cy="6400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46919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0F0F0"/>
                </a:solidFill>
                <a:latin typeface="Hiragino Sans"/>
              </a:defRPr>
            </a:pPr>
            <a:r>
              <a:t>⚙️  設定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560320"/>
            <a:ext cx="338328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974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0F0F0"/>
                </a:solidFill>
                <a:latin typeface="Hiragino Sans"/>
              </a:defRPr>
            </a:pPr>
            <a:r>
              <a:t>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6974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0F0F0"/>
                </a:solidFill>
                <a:latin typeface="Hiragino Sans"/>
              </a:defRPr>
            </a:pPr>
            <a:r>
              <a:t>電卓式入力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108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直感的な金額入力。よく使うカテゴリ</a:t>
            </a:r>
            <a:br/>
            <a:r>
              <a:t>が自動で上位表示。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560320"/>
            <a:ext cx="338328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6974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0F0F0"/>
                </a:solidFill>
                <a:latin typeface="Hiragino Sans"/>
              </a:defRPr>
            </a:pPr>
            <a:r>
              <a:t>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6974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0F0F0"/>
                </a:solidFill>
                <a:latin typeface="Hiragino Sans"/>
              </a:defRPr>
            </a:pPr>
            <a:r>
              <a:t>レシートOCR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108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カメラで撮影 → Vision AIが</a:t>
            </a:r>
            <a:br/>
            <a:r>
              <a:t>金額と日付を自動読み取り。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560320"/>
            <a:ext cx="338328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269747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0F0F0"/>
                </a:solidFill>
                <a:latin typeface="Hiragino Sans"/>
              </a:defRPr>
            </a:pPr>
            <a: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26974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0F0F0"/>
                </a:solidFill>
                <a:latin typeface="Hiragino Sans"/>
              </a:defRPr>
            </a:pPr>
            <a:r>
              <a:t>カレンダー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31089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月間カレンダーで日別収支を一覧。</a:t>
            </a:r>
            <a:br/>
            <a:r>
              <a:t>月次サマリーも表示。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89120"/>
            <a:ext cx="338328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26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0F0F0"/>
                </a:solidFill>
                <a:latin typeface="Hiragino Sans"/>
              </a:defRPr>
            </a:pPr>
            <a:r>
              <a:t>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526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0F0F0"/>
                </a:solidFill>
                <a:latin typeface="Hiragino Sans"/>
              </a:defRPr>
            </a:pPr>
            <a:r>
              <a:t>資産ダッシュボード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3775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総資産額、口座別ポートフォリオ、</a:t>
            </a:r>
            <a:br/>
            <a:r>
              <a:t>6ヶ月の資産推移チャート。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389120"/>
            <a:ext cx="338328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526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0F0F0"/>
                </a:solidFill>
                <a:latin typeface="Hiragino Sans"/>
              </a:defRPr>
            </a:pPr>
            <a:r>
              <a:t>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4526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0F0F0"/>
                </a:solidFill>
                <a:latin typeface="Hiragino Sans"/>
              </a:defRPr>
            </a:pPr>
            <a:r>
              <a:t>8種類の口座管理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93775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銀行・クレカ・電子マネー・PayPay</a:t>
            </a:r>
            <a:br/>
            <a:r>
              <a:t>・Suica・現金・投資・その他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46720" y="4389120"/>
            <a:ext cx="3383280" cy="155448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0" y="4526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0F0F0"/>
                </a:solidFill>
                <a:latin typeface="Hiragino Sans"/>
              </a:defRPr>
            </a:pPr>
            <a:r>
              <a:t>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45262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0F0F0"/>
                </a:solidFill>
                <a:latin typeface="Hiragino Sans"/>
              </a:defRPr>
            </a:pPr>
            <a:r>
              <a:t>予算 &amp; 固定費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4937759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月間予算のカテゴリ別設定。</a:t>
            </a:r>
            <a:br/>
            <a:r>
              <a:t>固定費テンプレートで自動入力。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5852160"/>
            <a:ext cx="10698480" cy="548640"/>
          </a:xfrm>
          <a:prstGeom prst="roundRect">
            <a:avLst/>
          </a:prstGeom>
          <a:solidFill>
            <a:srgbClr val="22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870448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A0A0B0"/>
                </a:solidFill>
                <a:latin typeface="Hiragino Sans"/>
              </a:defRPr>
            </a:pPr>
            <a:r>
              <a:t>🔐 Face ID / Touch ID ロック   |   💾 ZIPバックアップ &amp; リストア   |   🔍 高度な検索 &amp; フィルタ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6C63FF"/>
                </a:solidFill>
                <a:latin typeface="Menlo"/>
              </a:defRPr>
            </a:pPr>
            <a:r>
              <a:t>TECH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F0F0F0"/>
                </a:solidFill>
                <a:latin typeface="Hiragino Sans"/>
              </a:defRPr>
            </a:pPr>
            <a:r>
              <a:t>アーキテクチャ概要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0175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6C63FF"/>
                </a:solidFill>
                <a:latin typeface="Menlo"/>
              </a:defRPr>
            </a:pPr>
            <a:r>
              <a:t>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0F0F0"/>
                </a:solidFill>
                <a:latin typeface="Hiragino Sans"/>
              </a:defRPr>
            </a:pPr>
            <a:r>
              <a:t>Transaction (29 fields)</a:t>
            </a:r>
          </a:p>
          <a:p>
            <a:pPr algn="l">
              <a:spcAft>
                <a:spcPts val="10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  categoryId, classificationSource,</a:t>
            </a:r>
          </a:p>
          <a:p>
            <a:pPr algn="l">
              <a:spcAft>
                <a:spcPts val="80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  classificationConfidence, fingerprintKey...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0F0F0"/>
                </a:solidFill>
                <a:latin typeface="Hiragino Sans"/>
              </a:defRPr>
            </a:pPr>
            <a:r>
              <a:t>CategoryGroup → CategoryItem (階層構造)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0F0F0"/>
                </a:solidFill>
                <a:latin typeface="Hiragino Sans"/>
              </a:defRPr>
            </a:pPr>
            <a:r>
              <a:t>Account (8 types) → AccountStore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0F0F0"/>
                </a:solidFill>
                <a:latin typeface="Hiragino Sans"/>
              </a:defRPr>
            </a:pPr>
            <a:r>
              <a:t>Budget / FixedCostTemplate / ClassificationRule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F0F0F0"/>
                </a:solidFill>
                <a:latin typeface="Hiragino Sans"/>
              </a:defRPr>
            </a:pPr>
            <a:r>
              <a:t>BackupPayload (v3, 後方互換デコーダ)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0" y="1645920"/>
            <a:ext cx="5394960" cy="30175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0D2FF"/>
                </a:solidFill>
                <a:latin typeface="Menlo"/>
              </a:defRPr>
            </a:pPr>
            <a: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103120"/>
            <a:ext cx="48463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300" b="1">
                <a:solidFill>
                  <a:srgbClr val="F0F0F0"/>
                </a:solidFill>
                <a:latin typeface="Hiragino Sans"/>
              </a:defRPr>
            </a:pPr>
            <a:r>
              <a:t>SwiftUI Views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00D2FF"/>
                </a:solidFill>
                <a:latin typeface="Hiragino Sans"/>
              </a:defRPr>
            </a:pPr>
            <a:r>
              <a:t>    ↓  @EnvironmentObject</a:t>
            </a:r>
          </a:p>
          <a:p>
            <a:pPr algn="l">
              <a:spcAft>
                <a:spcPts val="200"/>
              </a:spcAft>
              <a:defRPr sz="1300" b="1">
                <a:solidFill>
                  <a:srgbClr val="F0F0F0"/>
                </a:solidFill>
                <a:latin typeface="Hiragino Sans"/>
              </a:defRPr>
            </a:pPr>
            <a:r>
              <a:t>DataStore.shared (Singleton)</a:t>
            </a:r>
          </a:p>
          <a:p>
            <a:pPr algn="l">
              <a:spcAft>
                <a:spcPts val="200"/>
              </a:spcAft>
              <a:defRPr sz="1100" b="0">
                <a:solidFill>
                  <a:srgbClr val="00D2FF"/>
                </a:solidFill>
                <a:latin typeface="Hiragino Sans"/>
              </a:defRPr>
            </a:pPr>
            <a:r>
              <a:t>    ↓  SwiftData ModelContainer</a:t>
            </a:r>
          </a:p>
          <a:p>
            <a:pPr algn="l">
              <a:spcAft>
                <a:spcPts val="800"/>
              </a:spcAft>
              <a:defRPr sz="1300" b="1">
                <a:solidFill>
                  <a:srgbClr val="00E676"/>
                </a:solidFill>
                <a:latin typeface="Hiragino Sans"/>
              </a:defRPr>
            </a:pPr>
            <a:r>
              <a:t>Local SQLite Storage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F0F0F0"/>
                </a:solidFill>
                <a:latin typeface="Hiragino Sans"/>
              </a:defRPr>
            </a:pPr>
            <a:r>
              <a:t>KeychainStore → OpenAI API (opt-in)</a:t>
            </a:r>
          </a:p>
          <a:p>
            <a:pPr algn="l">
              <a:spcAft>
                <a:spcPts val="0"/>
              </a:spcAft>
              <a:defRPr sz="1200" b="1">
                <a:solidFill>
                  <a:srgbClr val="00E676"/>
                </a:solidFill>
                <a:latin typeface="Hiragino Sans"/>
              </a:defRPr>
            </a:pPr>
            <a:r>
              <a:t>※ 金融データの外部送信なし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96596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9560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6C63FF"/>
                </a:solidFill>
                <a:latin typeface="Menlo"/>
              </a:defRPr>
            </a:pPr>
            <a:r>
              <a:t>62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492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A0A0B0"/>
                </a:solidFill>
                <a:latin typeface="Hiragino Sans"/>
              </a:defRPr>
            </a:pPr>
            <a:r>
              <a:t>Swiftファイル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4937760"/>
            <a:ext cx="196596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49560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6C63FF"/>
                </a:solidFill>
                <a:latin typeface="Menlo"/>
              </a:defRPr>
            </a:pPr>
            <a:r>
              <a:t>24,000+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53492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A0A0B0"/>
                </a:solidFill>
                <a:latin typeface="Hiragino Sans"/>
              </a:defRPr>
            </a:pPr>
            <a:r>
              <a:t>行のコード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12080" y="4937760"/>
            <a:ext cx="196596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49560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6C63FF"/>
                </a:solidFill>
                <a:latin typeface="Menlo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53492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A0A0B0"/>
                </a:solidFill>
                <a:latin typeface="Hiragino Sans"/>
              </a:defRPr>
            </a:pPr>
            <a:r>
              <a:t>テストファイル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52360" y="4937760"/>
            <a:ext cx="196596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52360" y="49560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6C63FF"/>
                </a:solidFill>
                <a:latin typeface="Menlo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53492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A0A0B0"/>
                </a:solidFill>
                <a:latin typeface="Hiragino Sans"/>
              </a:defRPr>
            </a:pPr>
            <a:r>
              <a:t>CSVフォーマット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4937760"/>
            <a:ext cx="1965960" cy="82296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2640" y="4956048"/>
            <a:ext cx="1965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6C63FF"/>
                </a:solidFill>
                <a:latin typeface="Menlo"/>
              </a:defRPr>
            </a:pPr>
            <a:r>
              <a:t>5+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5349240"/>
            <a:ext cx="1965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A0A0B0"/>
                </a:solidFill>
                <a:latin typeface="Hiragino Sans"/>
              </a:defRPr>
            </a:pPr>
            <a:r>
              <a:t>文字コード対応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606070"/>
                </a:solidFill>
                <a:latin typeface="Menlo"/>
              </a:defRPr>
            </a:pPr>
            <a:r>
              <a:t>SwiftUI  /  SwiftData  /  Vision  /  LocalAuthentication  /  Security (Keychain)  /  Swift Charts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6C63FF"/>
                </a:solidFill>
                <a:latin typeface="Menlo"/>
              </a:defRPr>
            </a:pPr>
            <a:r>
              <a:t>VIBE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900"/>
              </a:lnSpc>
              <a:spcAft>
                <a:spcPts val="0"/>
              </a:spcAft>
              <a:defRPr sz="3000" b="1">
                <a:solidFill>
                  <a:srgbClr val="F0F0F0"/>
                </a:solidFill>
                <a:latin typeface="Hiragino Sans"/>
              </a:defRPr>
            </a:pPr>
            <a:r>
              <a:t>AI駆動開発 -- どうやって作ったのか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5029200" cy="18288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F0F0F0"/>
                </a:solidFill>
                <a:latin typeface="Hiragino Sans"/>
              </a:defRPr>
            </a:pPr>
            <a:r>
              <a:t>Claude Code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6C63FF"/>
                </a:solidFill>
                <a:latin typeface="Hiragino Sans"/>
              </a:defRPr>
            </a:pPr>
            <a:r>
              <a:t>メイン開発パートナー（90%）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A0A0B0"/>
                </a:solidFill>
                <a:latin typeface="Hiragino Sans"/>
              </a:defRPr>
            </a:pPr>
            <a:r>
              <a:t>コード生成・アーキテクチャ設計・テスト作成</a:t>
            </a:r>
            <a:br/>
            <a:r>
              <a:t>リファクタリング・デバッグ → 24,000行の大半を生成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00200"/>
            <a:ext cx="5303520" cy="1828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F0F0F0"/>
                </a:solidFill>
                <a:latin typeface="Hiragino Sans"/>
              </a:defRPr>
            </a:pPr>
            <a:r>
              <a:t>Google Antigravity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00D2FF"/>
                </a:solidFill>
                <a:latin typeface="Hiragino Sans"/>
              </a:defRPr>
            </a:pPr>
            <a:r>
              <a:t>設計・監査パートナー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A0A0B0"/>
                </a:solidFill>
                <a:latin typeface="Hiragino Sans"/>
              </a:defRPr>
            </a:pPr>
            <a:r>
              <a:t>設計支援・コード品質監査・ドキュメント生成</a:t>
            </a:r>
            <a:br/>
            <a:r>
              <a:t>UI方向性レビュー・プレゼン構成策定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10698480" cy="1645920"/>
          </a:xfrm>
          <a:prstGeom prst="roundRect">
            <a:avLst/>
          </a:prstGeom>
          <a:solidFill>
            <a:srgbClr val="22223A"/>
          </a:solidFill>
          <a:ln w="1270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FF9100"/>
                </a:solidFill>
                <a:latin typeface="Hiragino Sans"/>
              </a:defRPr>
            </a:pPr>
            <a:r>
              <a:t>Cursorとの比較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A0A0B0"/>
                </a:solidFill>
                <a:latin typeface="Menlo"/>
              </a:defRPr>
            </a:pPr>
            <a:r>
              <a:t>Cursor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11480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A0A0B0"/>
                </a:solidFill>
                <a:latin typeface="Hiragino Sans"/>
              </a:defRPr>
            </a:pPr>
            <a:r>
              <a:t>コード補完中心。エディタ内でリアルタイムに支援。行単位〜関数単位。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480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6C63FF"/>
                </a:solidFill>
                <a:latin typeface="Menlo"/>
              </a:defRPr>
            </a:pPr>
            <a:r>
              <a:t>Claude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48056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A0A0B0"/>
                </a:solidFill>
                <a:latin typeface="Hiragino Sans"/>
              </a:defRPr>
            </a:pPr>
            <a:r>
              <a:t>機能単位で自然言語指示 → 複数ファイルに跨る実装を一括生成。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46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00D2FF"/>
                </a:solidFill>
                <a:latin typeface="Menlo"/>
              </a:defRPr>
            </a:pPr>
            <a:r>
              <a:t>Google Antigravity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4846320"/>
            <a:ext cx="7589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A0A0B0"/>
                </a:solidFill>
                <a:latin typeface="Hiragino Sans"/>
              </a:defRPr>
            </a:pPr>
            <a:r>
              <a:t>プロジェクト全体の分析・監査・計画策定。俯瞰的な支援。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1">
                <a:solidFill>
                  <a:srgbClr val="6C63FF"/>
                </a:solidFill>
                <a:latin typeface="Hiragino Sans"/>
              </a:defRPr>
            </a:pPr>
            <a:r>
              <a:t>開発フロー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760720"/>
            <a:ext cx="182880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7881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F0F0F0"/>
                </a:solidFill>
                <a:latin typeface="Hiragino Sans"/>
              </a:defRPr>
            </a:pPr>
            <a:r>
              <a:t>💬 日本語で要件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5806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6C63FF"/>
                </a:solidFill>
                <a:latin typeface="Hiragino San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5760720"/>
            <a:ext cx="182880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57881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F0F0F0"/>
                </a:solidFill>
                <a:latin typeface="Hiragino Sans"/>
              </a:defRPr>
            </a:pPr>
            <a:r>
              <a:t>🤖 AI生成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806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6C63FF"/>
                </a:solidFill>
                <a:latin typeface="Hiragino San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5760720"/>
            <a:ext cx="182880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57881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F0F0F0"/>
                </a:solidFill>
                <a:latin typeface="Hiragino Sans"/>
              </a:defRPr>
            </a:pPr>
            <a:r>
              <a:t>🔨 Xcodeビルド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5806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6C63FF"/>
                </a:solidFill>
                <a:latin typeface="Hiragino San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80" y="5760720"/>
            <a:ext cx="182880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0" y="57881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F0F0F0"/>
                </a:solidFill>
                <a:latin typeface="Hiragino Sans"/>
              </a:defRPr>
            </a:pPr>
            <a:r>
              <a:t>🔄 エラーFB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58064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6C63FF"/>
                </a:solidFill>
                <a:latin typeface="Hiragino Sans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58400" y="5760720"/>
            <a:ext cx="1828800" cy="4572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04120" y="578815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F0F0F0"/>
                </a:solidFill>
                <a:latin typeface="Hiragino Sans"/>
              </a:defRPr>
            </a:pPr>
            <a:r>
              <a:t>✅ 完成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6C63FF"/>
                </a:solidFill>
                <a:latin typeface="Menlo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F0F0F0"/>
                </a:solidFill>
                <a:latin typeface="Hiragino Sans"/>
              </a:defRPr>
            </a:pPr>
            <a:r>
              <a:t>今後の展望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1691639"/>
            <a:ext cx="182880" cy="182880"/>
          </a:xfrm>
          <a:prstGeom prst="ellipse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87552" y="1874519"/>
            <a:ext cx="36576" cy="548640"/>
          </a:xfrm>
          <a:prstGeom prst="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1554480"/>
            <a:ext cx="9601200" cy="685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6002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0F0F0"/>
                </a:solidFill>
                <a:latin typeface="Hiragino Sans"/>
              </a:defRPr>
            </a:pPr>
            <a:r>
              <a:t>銀行 / クレカ API連携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019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1円単位の正確な収支把握を自動化。CSV手動インポートからの脱却。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645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FF9100"/>
                </a:solidFill>
                <a:latin typeface="Hiragino Sans"/>
              </a:defRPr>
            </a:pPr>
            <a:r>
              <a:t>最重要目標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2560320"/>
            <a:ext cx="182880" cy="1828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87552" y="2743200"/>
            <a:ext cx="36576" cy="548640"/>
          </a:xfrm>
          <a:prstGeom prst="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2423160"/>
            <a:ext cx="9601200" cy="685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46887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0F0F0"/>
                </a:solidFill>
                <a:latin typeface="Hiragino Sans"/>
              </a:defRPr>
            </a:pPr>
            <a:r>
              <a:t>iCloud同期の有効化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7706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CloudKitインフラは構築済み。テスト後にフラグONで稼働開始。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514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00E676"/>
                </a:solidFill>
                <a:latin typeface="Hiragino Sans"/>
              </a:defRPr>
            </a:pPr>
            <a:r>
              <a:t>インフラ構築済み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428999"/>
            <a:ext cx="182880" cy="182880"/>
          </a:xfrm>
          <a:prstGeom prst="ellipse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552" y="3611879"/>
            <a:ext cx="36576" cy="548640"/>
          </a:xfrm>
          <a:prstGeom prst="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371600" y="3291839"/>
            <a:ext cx="9601200" cy="685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33375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0F0F0"/>
                </a:solidFill>
                <a:latin typeface="Hiragino Sans"/>
              </a:defRPr>
            </a:pPr>
            <a:r>
              <a:t>ウィジェット対応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3639311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ホーム画面で今月の収支をさっと確認。WidgetViewsファイル準備済み。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38327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00E676"/>
                </a:solidFill>
                <a:latin typeface="Hiragino Sans"/>
              </a:defRPr>
            </a:pPr>
            <a:r>
              <a:t>ファイル準備済み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297680"/>
            <a:ext cx="182880" cy="1828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87552" y="4480559"/>
            <a:ext cx="36576" cy="548640"/>
          </a:xfrm>
          <a:prstGeom prst="rect">
            <a:avLst/>
          </a:prstGeom>
          <a:solidFill>
            <a:srgbClr val="303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371600" y="4160520"/>
            <a:ext cx="9601200" cy="685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45920" y="42062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0F0F0"/>
                </a:solidFill>
                <a:latin typeface="Hiragino Sans"/>
              </a:defRPr>
            </a:pPr>
            <a:r>
              <a:t>AI支出分析 &amp; 節約アドバイス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50799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支出パターンの予測。「先月より外食が増えています」等の自動通知。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251959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6C63FF"/>
                </a:solidFill>
                <a:latin typeface="Hiragino Sans"/>
              </a:defRPr>
            </a:pPr>
            <a:r>
              <a:t>構想中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" y="5166360"/>
            <a:ext cx="182880" cy="1828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371600" y="5029200"/>
            <a:ext cx="9601200" cy="685800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45920" y="5074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F0F0F0"/>
                </a:solidFill>
                <a:latin typeface="Hiragino Sans"/>
              </a:defRPr>
            </a:pPr>
            <a:r>
              <a:t>App Store公開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537667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A0A0B0"/>
                </a:solidFill>
                <a:latin typeface="Hiragino Sans"/>
              </a:defRPr>
            </a:pPr>
            <a:r>
              <a:t>社内ベータテスト → TestFlight → 一般公開を段階的に検討。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120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1">
                <a:solidFill>
                  <a:srgbClr val="6C63FF"/>
                </a:solidFill>
                <a:latin typeface="Hiragino Sans"/>
              </a:defRPr>
            </a:pPr>
            <a:r>
              <a:t>検討中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Aft>
                <a:spcPts val="0"/>
              </a:spcAft>
              <a:defRPr sz="1100" b="1">
                <a:solidFill>
                  <a:srgbClr val="6C63FF"/>
                </a:solidFill>
                <a:latin typeface="Menlo"/>
              </a:defRPr>
            </a:pPr>
            <a:r>
              <a:t>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F0F0F0"/>
                </a:solidFill>
                <a:latin typeface="Hiragino Sans"/>
              </a:defRPr>
            </a:pPr>
            <a:r>
              <a:t>まとめ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54480"/>
            <a:ext cx="310896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600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0E676"/>
                </a:solidFill>
                <a:latin typeface="Hiragino Sans"/>
              </a:defRPr>
            </a:pPr>
            <a:r>
              <a:t>🔒 完全ローカル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554480"/>
            <a:ext cx="310896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59" y="1600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6C63FF"/>
                </a:solidFill>
                <a:latin typeface="Hiragino Sans"/>
              </a:defRPr>
            </a:pPr>
            <a:r>
              <a:t>🧠 AI自動仕分け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554480"/>
            <a:ext cx="310896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600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400" b="1">
                <a:solidFill>
                  <a:srgbClr val="00D2FF"/>
                </a:solidFill>
                <a:latin typeface="Hiragino Sans"/>
              </a:defRPr>
            </a:pPr>
            <a:r>
              <a:t>📊 7つのグラフ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200"/>
              </a:lnSpc>
              <a:spcAft>
                <a:spcPts val="0"/>
              </a:spcAft>
              <a:defRPr sz="3000" b="1">
                <a:solidFill>
                  <a:srgbClr val="F0F0F0"/>
                </a:solidFill>
                <a:latin typeface="Hiragino Sans"/>
              </a:defRPr>
            </a:pPr>
            <a:r>
              <a:t>AIツールの進化で、</a:t>
            </a:r>
            <a:br/>
            <a:r>
              <a:t>アイデアと基礎知識があれば</a:t>
            </a:r>
            <a:br/>
            <a:r>
              <a:t>本格アプリを作れる時代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4114800"/>
            <a:ext cx="7589520" cy="7315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4160520"/>
            <a:ext cx="7040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6C63FF"/>
                </a:solidFill>
                <a:latin typeface="Hiragino Sans"/>
              </a:defRPr>
            </a:pPr>
            <a:r>
              <a:t>Cursorの次のステップとして、Claude Codeを試してみてください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21208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606070"/>
                </a:solidFill>
                <a:latin typeface="Menlo"/>
              </a:defRPr>
            </a:pPr>
            <a:r>
              <a:t>24,000+ lines  /  62 files  /  2-3 weeks  /  1 person  /  0 cloud dependencies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94360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F0F0F0"/>
                </a:solidFill>
                <a:latin typeface="Hiragino Sans"/>
              </a:defRPr>
            </a:pPr>
            <a:r>
              <a:t>それでは、実際にアプリを動かしてお見せします。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800"/>
              </a:lnSpc>
              <a:spcAft>
                <a:spcPts val="0"/>
              </a:spcAft>
              <a:defRPr sz="6000" b="1">
                <a:solidFill>
                  <a:srgbClr val="6C63FF"/>
                </a:solidFill>
                <a:latin typeface="Hiragino Sans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A0A0B0"/>
                </a:solidFill>
                <a:latin typeface="Hiragino Sans"/>
              </a:defRPr>
            </a:pPr>
            <a:r>
              <a:t>iPhone画面を共有します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931920"/>
            <a:ext cx="256032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920240" y="4005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F0F0F0"/>
                </a:solidFill>
                <a:latin typeface="Menlo"/>
              </a:defRPr>
            </a:pPr>
            <a:r>
              <a:t>01  Face ID解除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3931920"/>
            <a:ext cx="256032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59" y="4005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F0F0F0"/>
                </a:solidFill>
                <a:latin typeface="Menlo"/>
              </a:defRPr>
            </a:pPr>
            <a:r>
              <a:t>02  取引入力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3931920"/>
            <a:ext cx="256032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400507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F0F0F0"/>
                </a:solidFill>
                <a:latin typeface="Menlo"/>
              </a:defRPr>
            </a:pPr>
            <a:r>
              <a:t>03  カレンダー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4663440"/>
            <a:ext cx="256032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20240" y="47365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F0F0F0"/>
                </a:solidFill>
                <a:latin typeface="Menlo"/>
              </a:defRPr>
            </a:pPr>
            <a:r>
              <a:t>04  グラフ 7種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4663440"/>
            <a:ext cx="256032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59" y="47365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F0F0F0"/>
                </a:solidFill>
                <a:latin typeface="Menlo"/>
              </a:defRPr>
            </a:pPr>
            <a:r>
              <a:t>05  資産ダッシュボード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4663440"/>
            <a:ext cx="2560320" cy="502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79" y="4736592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F0F0F0"/>
                </a:solidFill>
                <a:latin typeface="Menlo"/>
              </a:defRPr>
            </a:pPr>
            <a:r>
              <a:t>06  CSV AI分類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00D2FF"/>
                </a:solidFill>
                <a:latin typeface="Hiragino Sans"/>
              </a:defRPr>
            </a:pPr>
            <a:r>
              <a:t>ご質問はデモ後にお願いします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